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Arbitrage Pricing</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Linear Pricing</a:t>
            </a:r>
          </a:p>
        </p:txBody>
      </p:sp>
      <p:sp>
        <p:nvSpPr>
          <p:cNvPr id="3" name="Text Placeholder 2"/>
          <p:cNvSpPr>
            <a:spLocks noGrp="1"/>
          </p:cNvSpPr>
          <p:nvPr>
            <p:ph type="body"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Linear Pricing</a:t>
            </a:r>
          </a:p>
        </p:txBody>
      </p:sp>
      <p:sp>
        <p:nvSpPr>
          <p:cNvPr id="3" name="Content Placeholder 2"/>
          <p:cNvSpPr>
            <a:spLocks noGrp="1"/>
          </p:cNvSpPr>
          <p:nvPr>
            <p:ph idx="1"/>
          </p:nvPr>
        </p:nvSpPr>
        <p:spPr/>
        <p:txBody>
          <a:bodyPr/>
          <a:lstStyle/>
          <a:p/>
          <a:p>
            <a:pPr>
              <a:defRPr sz="1800"/>
            </a:pPr>
            <a:r>
              <a:t>If $X$ and $Y$ are time $t$ random cash flows, the time 0 price of the random cash flow $aX+bY$ is $a$ times the time 0 price of $X$ plus $b$ times the time 0 price of $Y$. If $P(\cdot)$ is a pricing function that gives us the price of a random cash flow today, then $P(aX+bY)=aP(X) + bP(Y)$. In other words, the pricing operator is linear. This follows because if this fails to hold, there is an arbitrage assuming an agent can buy and sell any quantities at these prices. Because the pricing operator is linear, it must have the form $P(X) = \sum_{j=1}^J \pi_j X_j$ where $X_j$ is the random cash flow in state~$j$. We call $\pi_j$ the price of a dollar at time $t$ in state $j$ or a state price.</a:t>
            </a:r>
          </a:p>
          <a:p>
            <a:pPr>
              <a:defRPr sz="1800"/>
            </a:pPr>
            <a:r>
              <a:t>The price of any positive nonzero random cash flow at time $t$ is strictly positive. Again, this follows from no arbitrage (think how much of an asset paying a positive dividend you would want if it were free or even if you were paid to take the asset). This implies the state prices are strictly positive.</a:t>
            </a:r>
          </a:p>
          <a:p>
            <a:pPr>
              <a:defRPr sz="1800"/>
            </a:pPr>
            <a:r>
              <a:t>The pricing operator obeys time value of money: $1=\sum_{j=1}^J \pi_j e^{rt}$, where $r$ is the continuously compounded yield to maturity of a bond maturing at $t$. This is the present value rule: the present value of the future value $e^{rt}$ is one or, equivalently, the present value of a dollar paid at $t$ is $e^{-rt}$.</a:t>
            </a:r>
          </a:p>
          <a:p>
            <a:pPr>
              <a:defRPr sz="1800"/>
            </a:pPr>
            <a:r>
              <a:t>The pricing operator must be consistent with observable prices. The price $S_0$ of a traded asset with random cash flows at time $t$ is given by $S_0= \sum_{j=1}^J \pi_j S_j$ where $S_j$ is the random cash flow in state $j$.</a:t>
            </a:r>
          </a:p>
        </p:txBody>
      </p:sp>
      <p:pic>
        <p:nvPicPr>
          <p:cNvPr id="4" name="Picture 3" descr="equation_000.png"/>
          <p:cNvPicPr>
            <a:picLocks noChangeAspect="1"/>
          </p:cNvPicPr>
          <p:nvPr/>
        </p:nvPicPr>
        <p:blipFill>
          <a:blip r:embed="rId2"/>
          <a:stretch>
            <a:fillRect/>
          </a:stretch>
        </p:blipFill>
        <p:spPr>
          <a:xfrm>
            <a:off x="1828800" y="3657600"/>
            <a:ext cx="4177862" cy="914400"/>
          </a:xfrm>
          <a:prstGeom prst="rect">
            <a:avLst/>
          </a:prstGeom>
        </p:spPr>
      </p:pic>
      <p:pic>
        <p:nvPicPr>
          <p:cNvPr id="5" name="Picture 4" descr="equation_001.png"/>
          <p:cNvPicPr>
            <a:picLocks noChangeAspect="1"/>
          </p:cNvPicPr>
          <p:nvPr/>
        </p:nvPicPr>
        <p:blipFill>
          <a:blip r:embed="rId3"/>
          <a:stretch>
            <a:fillRect/>
          </a:stretch>
        </p:blipFill>
        <p:spPr>
          <a:xfrm>
            <a:off x="1828800" y="4754880"/>
            <a:ext cx="4177862" cy="914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State Prices in the Binomial Model</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State Prices in the Binomial Model</a:t>
            </a:r>
          </a:p>
        </p:txBody>
      </p:sp>
      <p:sp>
        <p:nvSpPr>
          <p:cNvPr id="3" name="Content Placeholder 2"/>
          <p:cNvSpPr>
            <a:spLocks noGrp="1"/>
          </p:cNvSpPr>
          <p:nvPr>
            <p:ph idx="1"/>
          </p:nvPr>
        </p:nvSpPr>
        <p:spPr/>
        <p:txBody>
          <a:bodyPr/>
          <a:lstStyle/>
          <a:p/>
        </p:txBody>
      </p:sp>
      <p:pic>
        <p:nvPicPr>
          <p:cNvPr id="4" name="Picture 3" descr="equation_003.png"/>
          <p:cNvPicPr>
            <a:picLocks noChangeAspect="1"/>
          </p:cNvPicPr>
          <p:nvPr/>
        </p:nvPicPr>
        <p:blipFill>
          <a:blip r:embed="rId2"/>
          <a:stretch>
            <a:fillRect/>
          </a:stretch>
        </p:blipFill>
        <p:spPr>
          <a:xfrm>
            <a:off x="1828800" y="1828800"/>
            <a:ext cx="4177862" cy="914400"/>
          </a:xfrm>
          <a:prstGeom prst="rect">
            <a:avLst/>
          </a:prstGeom>
        </p:spPr>
      </p:pic>
      <p:pic>
        <p:nvPicPr>
          <p:cNvPr id="5" name="Picture 4" descr="equation_001.png"/>
          <p:cNvPicPr>
            <a:picLocks noChangeAspect="1"/>
          </p:cNvPicPr>
          <p:nvPr/>
        </p:nvPicPr>
        <p:blipFill>
          <a:blip r:embed="rId3"/>
          <a:stretch>
            <a:fillRect/>
          </a:stretch>
        </p:blipFill>
        <p:spPr>
          <a:xfrm>
            <a:off x="1828800" y="2926080"/>
            <a:ext cx="4177862" cy="9144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States</a:t>
            </a:r>
          </a:p>
        </p:txBody>
      </p:sp>
      <p:sp>
        <p:nvSpPr>
          <p:cNvPr id="3" name="Text Placeholder 2"/>
          <p:cNvSpPr>
            <a:spLocks noGrp="1"/>
          </p:cNvSpPr>
          <p:nvPr>
            <p:ph type="body"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States</a:t>
            </a:r>
          </a:p>
        </p:txBody>
      </p:sp>
      <p:sp>
        <p:nvSpPr>
          <p:cNvPr id="3" name="Content Placeholder 2"/>
          <p:cNvSpPr>
            <a:spLocks noGrp="1"/>
          </p:cNvSpPr>
          <p:nvPr>
            <p:ph idx="1"/>
          </p:nvPr>
        </p:nvSpPr>
        <p:spPr/>
        <p:txBody>
          <a:bodyPr/>
          <a:lstStyle/>
          <a:p/>
        </p:txBody>
      </p:sp>
      <p:pic>
        <p:nvPicPr>
          <p:cNvPr id="4" name="Picture 3" descr="equation_006.png"/>
          <p:cNvPicPr>
            <a:picLocks noChangeAspect="1"/>
          </p:cNvPicPr>
          <p:nvPr/>
        </p:nvPicPr>
        <p:blipFill>
          <a:blip r:embed="rId2"/>
          <a:stretch>
            <a:fillRect/>
          </a:stretch>
        </p:blipFill>
        <p:spPr>
          <a:xfrm>
            <a:off x="1828800" y="1828800"/>
            <a:ext cx="4177862" cy="914400"/>
          </a:xfrm>
          <a:prstGeom prst="rect">
            <a:avLst/>
          </a:prstGeom>
        </p:spPr>
      </p:pic>
      <p:pic>
        <p:nvPicPr>
          <p:cNvPr id="5" name="Picture 4" descr="equation_007.png"/>
          <p:cNvPicPr>
            <a:picLocks noChangeAspect="1"/>
          </p:cNvPicPr>
          <p:nvPr/>
        </p:nvPicPr>
        <p:blipFill>
          <a:blip r:embed="rId3"/>
          <a:stretch>
            <a:fillRect/>
          </a:stretch>
        </p:blipFill>
        <p:spPr>
          <a:xfrm>
            <a:off x="1828800" y="2926080"/>
            <a:ext cx="4177862" cy="914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Martingale Pricing</a:t>
            </a:r>
          </a:p>
        </p:txBody>
      </p:sp>
      <p:sp>
        <p:nvSpPr>
          <p:cNvPr id="3" name="Text Placeholder 2"/>
          <p:cNvSpPr>
            <a:spLocks noGrp="1"/>
          </p:cNvSpPr>
          <p:nvPr>
            <p:ph type="body"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Martingale Pricing</a:t>
            </a:r>
          </a:p>
        </p:txBody>
      </p:sp>
      <p:sp>
        <p:nvSpPr>
          <p:cNvPr id="3" name="Content Placeholder 2"/>
          <p:cNvSpPr>
            <a:spLocks noGrp="1"/>
          </p:cNvSpPr>
          <p:nvPr>
            <p:ph idx="1"/>
          </p:nvPr>
        </p:nvSpPr>
        <p:spPr/>
        <p:txBody>
          <a:bodyPr/>
          <a:lstStyle/>
          <a:p/>
        </p:txBody>
      </p:sp>
      <p:pic>
        <p:nvPicPr>
          <p:cNvPr id="4" name="Picture 3" descr="equation_003.png"/>
          <p:cNvPicPr>
            <a:picLocks noChangeAspect="1"/>
          </p:cNvPicPr>
          <p:nvPr/>
        </p:nvPicPr>
        <p:blipFill>
          <a:blip r:embed="rId2"/>
          <a:stretch>
            <a:fillRect/>
          </a:stretch>
        </p:blipFill>
        <p:spPr>
          <a:xfrm>
            <a:off x="1828800" y="1828800"/>
            <a:ext cx="4177862" cy="914400"/>
          </a:xfrm>
          <a:prstGeom prst="rect">
            <a:avLst/>
          </a:prstGeom>
        </p:spPr>
      </p:pic>
      <p:pic>
        <p:nvPicPr>
          <p:cNvPr id="5" name="Picture 4" descr="equation_010.png"/>
          <p:cNvPicPr>
            <a:picLocks noChangeAspect="1"/>
          </p:cNvPicPr>
          <p:nvPr/>
        </p:nvPicPr>
        <p:blipFill>
          <a:blip r:embed="rId3"/>
          <a:stretch>
            <a:fillRect/>
          </a:stretch>
        </p:blipFill>
        <p:spPr>
          <a:xfrm>
            <a:off x="1828800" y="2926080"/>
            <a:ext cx="4177862" cy="914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Continuous Time</a:t>
            </a:r>
          </a:p>
        </p:txBody>
      </p:sp>
      <p:sp>
        <p:nvSpPr>
          <p:cNvPr id="3" name="Text Placeholder 2"/>
          <p:cNvSpPr>
            <a:spLocks noGrp="1"/>
          </p:cNvSpPr>
          <p:nvPr>
            <p:ph type="body"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Continuous Time</a:t>
            </a:r>
          </a:p>
        </p:txBody>
      </p:sp>
      <p:sp>
        <p:nvSpPr>
          <p:cNvPr id="3" name="Content Placeholder 2"/>
          <p:cNvSpPr>
            <a:spLocks noGrp="1"/>
          </p:cNvSpPr>
          <p:nvPr>
            <p:ph idx="1"/>
          </p:nvPr>
        </p:nvSpPr>
        <p:spPr/>
        <p:txBody>
          <a:bodyPr/>
          <a:lstStyle/>
          <a:p/>
        </p:txBody>
      </p:sp>
      <p:pic>
        <p:nvPicPr>
          <p:cNvPr id="4" name="Picture 3" descr="equation_012.png"/>
          <p:cNvPicPr>
            <a:picLocks noChangeAspect="1"/>
          </p:cNvPicPr>
          <p:nvPr/>
        </p:nvPicPr>
        <p:blipFill>
          <a:blip r:embed="rId2"/>
          <a:stretch>
            <a:fillRect/>
          </a:stretch>
        </p:blipFill>
        <p:spPr>
          <a:xfrm>
            <a:off x="1828800" y="1828800"/>
            <a:ext cx="4177862" cy="914400"/>
          </a:xfrm>
          <a:prstGeom prst="rect">
            <a:avLst/>
          </a:prstGeom>
        </p:spPr>
      </p:pic>
      <p:pic>
        <p:nvPicPr>
          <p:cNvPr id="5" name="Picture 4" descr="equation_013.png"/>
          <p:cNvPicPr>
            <a:picLocks noChangeAspect="1"/>
          </p:cNvPicPr>
          <p:nvPr/>
        </p:nvPicPr>
        <p:blipFill>
          <a:blip r:embed="rId3"/>
          <a:stretch>
            <a:fillRect/>
          </a:stretch>
        </p:blipFill>
        <p:spPr>
          <a:xfrm>
            <a:off x="1828800" y="2926080"/>
            <a:ext cx="4177862" cy="914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of Numeraire</a:t>
            </a:r>
          </a:p>
        </p:txBody>
      </p:sp>
      <p:sp>
        <p:nvSpPr>
          <p:cNvPr id="3" name="Text Placeholder 2"/>
          <p:cNvSpPr>
            <a:spLocks noGrp="1"/>
          </p:cNvSpPr>
          <p:nvPr>
            <p:ph type="body"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of Numeraire</a:t>
            </a:r>
          </a:p>
        </p:txBody>
      </p:sp>
      <p:sp>
        <p:nvSpPr>
          <p:cNvPr id="3" name="Content Placeholder 2"/>
          <p:cNvSpPr>
            <a:spLocks noGrp="1"/>
          </p:cNvSpPr>
          <p:nvPr>
            <p:ph idx="1"/>
          </p:nvPr>
        </p:nvSpPr>
        <p:spPr/>
        <p:txBody>
          <a:bodyPr/>
          <a:lstStyle/>
          <a:p/>
        </p:txBody>
      </p:sp>
      <p:pic>
        <p:nvPicPr>
          <p:cNvPr id="4" name="Picture 3" descr="equation_015.png"/>
          <p:cNvPicPr>
            <a:picLocks noChangeAspect="1"/>
          </p:cNvPicPr>
          <p:nvPr/>
        </p:nvPicPr>
        <p:blipFill>
          <a:blip r:embed="rId2"/>
          <a:stretch>
            <a:fillRect/>
          </a:stretch>
        </p:blipFill>
        <p:spPr>
          <a:xfrm>
            <a:off x="1828800" y="1828800"/>
            <a:ext cx="4177862" cy="914400"/>
          </a:xfrm>
          <a:prstGeom prst="rect">
            <a:avLst/>
          </a:prstGeom>
        </p:spPr>
      </p:pic>
      <p:pic>
        <p:nvPicPr>
          <p:cNvPr id="5" name="Picture 4" descr="equation_001.png"/>
          <p:cNvPicPr>
            <a:picLocks noChangeAspect="1"/>
          </p:cNvPicPr>
          <p:nvPr/>
        </p:nvPicPr>
        <p:blipFill>
          <a:blip r:embed="rId3"/>
          <a:stretch>
            <a:fillRect/>
          </a:stretch>
        </p:blipFill>
        <p:spPr>
          <a:xfrm>
            <a:off x="1828800" y="2926080"/>
            <a:ext cx="4177862" cy="914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Stock as Numeraire</a:t>
            </a:r>
          </a:p>
        </p:txBody>
      </p:sp>
      <p:sp>
        <p:nvSpPr>
          <p:cNvPr id="3" name="Text Placeholder 2"/>
          <p:cNvSpPr>
            <a:spLocks noGrp="1"/>
          </p:cNvSpPr>
          <p:nvPr>
            <p:ph type="body"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Stock as Numeraire</a:t>
            </a:r>
          </a:p>
        </p:txBody>
      </p:sp>
      <p:sp>
        <p:nvSpPr>
          <p:cNvPr id="3" name="Content Placeholder 2"/>
          <p:cNvSpPr>
            <a:spLocks noGrp="1"/>
          </p:cNvSpPr>
          <p:nvPr>
            <p:ph idx="1"/>
          </p:nvPr>
        </p:nvSpPr>
        <p:spPr/>
        <p:txBody>
          <a:bodyPr/>
          <a:lstStyle/>
          <a:p/>
        </p:txBody>
      </p:sp>
      <p:pic>
        <p:nvPicPr>
          <p:cNvPr id="4" name="Picture 3" descr="equation_001.png"/>
          <p:cNvPicPr>
            <a:picLocks noChangeAspect="1"/>
          </p:cNvPicPr>
          <p:nvPr/>
        </p:nvPicPr>
        <p:blipFill>
          <a:blip r:embed="rId2"/>
          <a:stretch>
            <a:fillRect/>
          </a:stretch>
        </p:blipFill>
        <p:spPr>
          <a:xfrm>
            <a:off x="1828800" y="1828800"/>
            <a:ext cx="4177862" cy="914400"/>
          </a:xfrm>
          <a:prstGeom prst="rect">
            <a:avLst/>
          </a:prstGeom>
        </p:spPr>
      </p:pic>
      <p:pic>
        <p:nvPicPr>
          <p:cNvPr id="5" name="Picture 4" descr="equation_019.png"/>
          <p:cNvPicPr>
            <a:picLocks noChangeAspect="1"/>
          </p:cNvPicPr>
          <p:nvPr/>
        </p:nvPicPr>
        <p:blipFill>
          <a:blip r:embed="rId3"/>
          <a:stretch>
            <a:fillRect/>
          </a:stretch>
        </p:blipFill>
        <p:spPr>
          <a:xfrm>
            <a:off x="1828800" y="2926080"/>
            <a:ext cx="4177862" cy="9144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Changes of Probability and Girsanov's Theorem</a:t>
            </a:r>
          </a:p>
        </p:txBody>
      </p:sp>
      <p:sp>
        <p:nvSpPr>
          <p:cNvPr id="3" name="Text Placeholder 2"/>
          <p:cNvSpPr>
            <a:spLocks noGrp="1"/>
          </p:cNvSpPr>
          <p:nvPr>
            <p:ph type="body"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Changes of Probability and Girsanov's Theorem</a:t>
            </a:r>
          </a:p>
        </p:txBody>
      </p:sp>
      <p:sp>
        <p:nvSpPr>
          <p:cNvPr id="3" name="Content Placeholder 2"/>
          <p:cNvSpPr>
            <a:spLocks noGrp="1"/>
          </p:cNvSpPr>
          <p:nvPr>
            <p:ph idx="1"/>
          </p:nvPr>
        </p:nvSpPr>
        <p:spPr/>
        <p:txBody>
          <a:bodyPr/>
          <a:lstStyle/>
          <a:p/>
        </p:txBody>
      </p:sp>
      <p:pic>
        <p:nvPicPr>
          <p:cNvPr id="4" name="Picture 3" descr="equation_001.png"/>
          <p:cNvPicPr>
            <a:picLocks noChangeAspect="1"/>
          </p:cNvPicPr>
          <p:nvPr/>
        </p:nvPicPr>
        <p:blipFill>
          <a:blip r:embed="rId2"/>
          <a:stretch>
            <a:fillRect/>
          </a:stretch>
        </p:blipFill>
        <p:spPr>
          <a:xfrm>
            <a:off x="1828800" y="1828800"/>
            <a:ext cx="4177862" cy="914400"/>
          </a:xfrm>
          <a:prstGeom prst="rect">
            <a:avLst/>
          </a:prstGeom>
        </p:spPr>
      </p:pic>
      <p:pic>
        <p:nvPicPr>
          <p:cNvPr id="5" name="Picture 4" descr="equation_022.png"/>
          <p:cNvPicPr>
            <a:picLocks noChangeAspect="1"/>
          </p:cNvPicPr>
          <p:nvPr/>
        </p:nvPicPr>
        <p:blipFill>
          <a:blip r:embed="rId3"/>
          <a:stretch>
            <a:fillRect/>
          </a:stretch>
        </p:blipFill>
        <p:spPr>
          <a:xfrm>
            <a:off x="1828800" y="2926080"/>
            <a:ext cx="4177862" cy="914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Exercises</a:t>
            </a:r>
          </a:p>
        </p:txBody>
      </p:sp>
      <p:sp>
        <p:nvSpPr>
          <p:cNvPr id="3" name="Text Placeholder 2"/>
          <p:cNvSpPr>
            <a:spLocks noGrp="1"/>
          </p:cNvSpPr>
          <p:nvPr>
            <p:ph type="body"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Exercises</a:t>
            </a:r>
          </a:p>
        </p:txBody>
      </p:sp>
      <p:sp>
        <p:nvSpPr>
          <p:cNvPr id="3" name="Content Placeholder 2"/>
          <p:cNvSpPr>
            <a:spLocks noGrp="1"/>
          </p:cNvSpPr>
          <p:nvPr>
            <p:ph idx="1"/>
          </p:nvPr>
        </p:nvSpPr>
        <p:spPr/>
        <p:txBody>
          <a:bodyPr/>
          <a:lstStyle/>
          <a:p/>
          <a:p>
            <a:pPr>
              <a:defRPr sz="1800"/>
            </a:pPr>
            <a:r>
              <a:t>Risk-free bond: pays $e^{0.05}$ in all states</a:t>
            </a:r>
          </a:p>
          <a:p>
            <a:pPr>
              <a:defRPr sz="1800"/>
            </a:pPr>
            <a:r>
              <a:t>Risky asset: pays $(10, 15, 5)$ in states $(1, 2, 3)$ respectively, currently priced at $S_0 = 9$</a:t>
            </a:r>
          </a:p>
          <a:p>
            <a:pPr>
              <a:defRPr sz="1800"/>
            </a:pPr>
            <a:r>
              <a:t>Hint: Under the $V$-numeraire measure, determine the dynamics of $S/V$ and use the fact that $S_T/V_T \leq 1$ when $V_T \geq S_T$.*</a:t>
            </a:r>
          </a:p>
          <a:p>
            <a:pPr>
              <a:defRPr sz="1800"/>
            </a:pPr>
            <a:r>
              <a:t>Note: $r^d$ and $r^f$ are domestic and foreign risk-free rates respectively.*</a:t>
            </a:r>
          </a:p>
        </p:txBody>
      </p:sp>
      <p:pic>
        <p:nvPicPr>
          <p:cNvPr id="4" name="Picture 3" descr="equation_024.png"/>
          <p:cNvPicPr>
            <a:picLocks noChangeAspect="1"/>
          </p:cNvPicPr>
          <p:nvPr/>
        </p:nvPicPr>
        <p:blipFill>
          <a:blip r:embed="rId2"/>
          <a:stretch>
            <a:fillRect/>
          </a:stretch>
        </p:blipFill>
        <p:spPr>
          <a:xfrm>
            <a:off x="1828800" y="3657600"/>
            <a:ext cx="4177862" cy="914400"/>
          </a:xfrm>
          <a:prstGeom prst="rect">
            <a:avLst/>
          </a:prstGeom>
        </p:spPr>
      </p:pic>
      <p:pic>
        <p:nvPicPr>
          <p:cNvPr id="5" name="Picture 4" descr="equation_025.png"/>
          <p:cNvPicPr>
            <a:picLocks noChangeAspect="1"/>
          </p:cNvPicPr>
          <p:nvPr/>
        </p:nvPicPr>
        <p:blipFill>
          <a:blip r:embed="rId3"/>
          <a:stretch>
            <a:fillRect/>
          </a:stretch>
        </p:blipFill>
        <p:spPr>
          <a:xfrm>
            <a:off x="1828800" y="4754880"/>
            <a:ext cx="4177862" cy="9144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Text Placeholder 2"/>
          <p:cNvSpPr>
            <a:spLocks noGrp="1"/>
          </p:cNvSpPr>
          <p:nvPr>
            <p:ph type="body"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
            <a:pPr>
              <a:defRPr sz="1800"/>
            </a:pPr>
            <a:r>
              <a:t>Linear pricing** implies the existence of state prices</a:t>
            </a:r>
          </a:p>
          <a:p>
            <a:pPr>
              <a:defRPr sz="1800"/>
            </a:pPr>
            <a:r>
              <a:t>State prices** can be converted to risk-neutral probabilities</a:t>
            </a:r>
          </a:p>
          <a:p>
            <a:pPr>
              <a:defRPr sz="1800"/>
            </a:pPr>
            <a:r>
              <a:t>Asset price ratios** are martingales under appropriate probability measures</a:t>
            </a:r>
          </a:p>
          <a:p>
            <a:pPr>
              <a:defRPr sz="1800"/>
            </a:pPr>
            <a:r>
              <a:t>Any positive asset** can serve as numeraire, inducing its own probability measure</a:t>
            </a:r>
          </a:p>
          <a:p>
            <a:pPr>
              <a:defRPr sz="1800"/>
            </a:pPr>
            <a:r>
              <a:t>The **fundamental pricing formula** expresses values as expectations of discounted payoffs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